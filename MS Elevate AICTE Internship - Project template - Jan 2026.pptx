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107" d="100"/>
          <a:sy n="107" d="100"/>
        </p:scale>
        <p:origin x="102" y="13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12-01-2026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5100" b="1" cap="all">
                <a:latin typeface="Aptos"/>
              </a:rPr>
              <a:t>PROJECT TITLE</a:t>
            </a:r>
            <a:endParaRPr lang="en-US" sz="5100">
              <a:latin typeface="Aptos"/>
            </a:endParaRPr>
          </a:p>
          <a:p>
            <a:pPr algn="l"/>
            <a:endParaRPr lang="en-US" sz="5100" b="1" kern="120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a:t>Presented By</a:t>
            </a:r>
            <a:endParaRPr lang="en-US" sz="1600" cap="all"/>
          </a:p>
          <a:p>
            <a:pPr algn="l">
              <a:spcAft>
                <a:spcPts val="600"/>
              </a:spcAft>
            </a:pPr>
            <a:r>
              <a:rPr lang="en-US" sz="1600" b="1" cap="all"/>
              <a:t>Student Name:</a:t>
            </a:r>
          </a:p>
          <a:p>
            <a:pPr algn="l">
              <a:spcAft>
                <a:spcPts val="600"/>
              </a:spcAft>
            </a:pPr>
            <a:r>
              <a:rPr lang="en-US" sz="1600" b="1" cap="all"/>
              <a:t>College Name:</a:t>
            </a:r>
          </a:p>
          <a:p>
            <a:pPr algn="l">
              <a:spcAft>
                <a:spcPts val="600"/>
              </a:spcAft>
            </a:pPr>
            <a:r>
              <a:rPr lang="en-US" sz="1600" b="1" cap="all"/>
              <a:t>Department:</a:t>
            </a:r>
          </a:p>
          <a:p>
            <a:pPr algn="l">
              <a:spcAft>
                <a:spcPts val="600"/>
              </a:spcAft>
            </a:pPr>
            <a:r>
              <a:rPr lang="en-US" sz="1600" b="1" cap="all"/>
              <a:t>Email ID:</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IN" sz="2200">
                <a:latin typeface="Franklin Gothic Book"/>
              </a:rPr>
              <a:t>Example: Currently Rental bikes are introduced in many urban cities for the enhancement of mobility comfort. It is important to make the rental bike available and accessible to the public at the right time as it lessens the waiting time. Eventually, providing the city with a stable supply of rental bikes becomes a major concern. The crucial part is the prediction of bike count required at each hour for the stable supply of rental bikes.</a:t>
            </a:r>
            <a:endParaRPr lang="en-US" sz="220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IN" sz="1200" b="1" dirty="0">
                <a:latin typeface="Calibri"/>
                <a:ea typeface="Calibri"/>
                <a:cs typeface="Calibri"/>
              </a:rPr>
              <a:t>The proposed system aims to address the challenge of predicting the required bike count at each hour to ensure a stable supply of rental bikes. This involves leveraging data analytics and machine learning techniques to forecast demand patterns accurately. The solution will consist of the following components:</a:t>
            </a:r>
            <a:endParaRPr lang="en-IN" sz="120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Collection:</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Gather historical data on bike rentals, including time, date, location, and other relevant factors.</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Utilize real-time data sources, such as weather conditions, events, and holidays, to enhance prediction accuracy.</a:t>
            </a:r>
            <a:endParaRPr lang="en-IN" sz="120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Preprocessing:</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Clean and preprocess the collected data to handle missing values, outliers, and inconsistencies.</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Feature engineering to extract relevant features from the data that might impact bike demand.</a:t>
            </a:r>
            <a:endParaRPr lang="en-IN" sz="120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Machine Learning Algorithm:</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Implement a machine learning algorithm, such as a time-series forecasting model (e.g., ARIMA, SARIMA, or LSTM), to predict bike counts based on historical patterns.</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Consider incorporating other factors like weather conditions, day of the week, and special events to improve prediction accuracy.</a:t>
            </a:r>
            <a:endParaRPr lang="en-IN" sz="120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Deployment:</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Develop a user-friendly interface or application that provides real-time predictions for bike counts at different hours.</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Deploy the solution on a scalable and reliable platform, considering factors like server infrastructure, response time, and user accessibility.</a:t>
            </a:r>
            <a:endParaRPr lang="en-IN" sz="120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Evaluation:</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Assess the model's performance using appropriate metrics such as Mean Absolute Error (MAE), Root Mean Squared Error (RMSE), or other relevant metrics.</a:t>
            </a:r>
            <a:endParaRPr lang="en-IN" sz="120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Fine-tune the model based on feedback and continuous monitoring of prediction accuracy.</a:t>
            </a:r>
            <a:endParaRPr lang="en-IN" sz="1200">
              <a:latin typeface="Calibri"/>
              <a:ea typeface="Calibri"/>
              <a:cs typeface="Calibri"/>
            </a:endParaRPr>
          </a:p>
          <a:p>
            <a:pPr marL="629920" lvl="1" indent="-305435">
              <a:spcBef>
                <a:spcPct val="20000"/>
              </a:spcBef>
              <a:spcAft>
                <a:spcPts val="600"/>
              </a:spcAft>
              <a:buFont typeface="Arial"/>
              <a:buChar char="•"/>
            </a:pPr>
            <a:r>
              <a:rPr lang="en-IN" sz="1200" dirty="0">
                <a:latin typeface="Franklin Gothic Book"/>
              </a:rPr>
              <a:t>Result:</a:t>
            </a: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marL="0" indent="0">
              <a:spcBef>
                <a:spcPct val="20000"/>
              </a:spcBef>
              <a:spcAft>
                <a:spcPts val="600"/>
              </a:spcAft>
              <a:buNone/>
            </a:pPr>
            <a:r>
              <a:rPr lang="en-IN" sz="2200" b="1">
                <a:latin typeface="Franklin Gothic Book"/>
              </a:rPr>
              <a:t>The "System Approach" section outlines the overall strategy and methodology for developing and implementing the rental bike prediction system. Here's a suggested structure for this section:</a:t>
            </a:r>
            <a:endParaRPr lang="en-US" sz="2200">
              <a:latin typeface="Franklin Gothic Book"/>
            </a:endParaRPr>
          </a:p>
          <a:p>
            <a:pPr marL="305435" indent="-305435">
              <a:spcBef>
                <a:spcPct val="20000"/>
              </a:spcBef>
              <a:spcAft>
                <a:spcPts val="600"/>
              </a:spcAft>
              <a:buFont typeface="Arial"/>
              <a:buChar char="•"/>
            </a:pPr>
            <a:r>
              <a:rPr lang="en-IN" sz="2200" b="1">
                <a:latin typeface="Franklin Gothic Book"/>
              </a:rPr>
              <a:t>System requirements</a:t>
            </a:r>
            <a:endParaRPr lang="en-US" sz="2200">
              <a:latin typeface="Franklin Gothic Book"/>
            </a:endParaRPr>
          </a:p>
          <a:p>
            <a:pPr marL="305435" indent="-305435">
              <a:spcBef>
                <a:spcPct val="20000"/>
              </a:spcBef>
              <a:spcAft>
                <a:spcPts val="600"/>
              </a:spcAft>
              <a:buFont typeface="Arial"/>
              <a:buChar char="•"/>
            </a:pPr>
            <a:r>
              <a:rPr lang="en-IN" sz="2200" b="1">
                <a:latin typeface="Franklin Gothic Book"/>
              </a:rPr>
              <a:t>Library required to build the model</a:t>
            </a:r>
            <a:endParaRPr lang="en-GB" sz="220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marL="305435" indent="-305435">
              <a:spcBef>
                <a:spcPct val="20000"/>
              </a:spcBef>
              <a:spcAft>
                <a:spcPts val="600"/>
              </a:spcAft>
              <a:buFont typeface="Arial"/>
              <a:buChar char="•"/>
            </a:pPr>
            <a:r>
              <a:rPr lang="en-IN" sz="1500">
                <a:latin typeface="Franklin Gothic Book"/>
              </a:rPr>
              <a:t>In the Algorithm section, describe the machine learning algorithm chosen for predicting bike counts. Here's an example structure for this section:</a:t>
            </a:r>
          </a:p>
          <a:p>
            <a:pPr marL="305435" indent="-305435">
              <a:spcBef>
                <a:spcPct val="20000"/>
              </a:spcBef>
              <a:spcAft>
                <a:spcPts val="600"/>
              </a:spcAft>
              <a:buFont typeface="Arial"/>
              <a:buChar char="•"/>
            </a:pPr>
            <a:r>
              <a:rPr lang="en-IN" sz="1500" b="1">
                <a:latin typeface="Franklin Gothic Book"/>
              </a:rPr>
              <a:t>Algorithm Selection:</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Provide a brief overview of the chosen algorithm (e.g., time-series forecasting model, like ARIMA or LSTM) and justify its selection based on the problem statement and data characteristics.</a:t>
            </a:r>
          </a:p>
          <a:p>
            <a:pPr marL="305435" indent="-305435">
              <a:spcBef>
                <a:spcPct val="20000"/>
              </a:spcBef>
              <a:spcAft>
                <a:spcPts val="600"/>
              </a:spcAft>
              <a:buFont typeface="Arial"/>
              <a:buChar char="•"/>
            </a:pPr>
            <a:r>
              <a:rPr lang="en-IN" sz="1500" b="1">
                <a:latin typeface="Franklin Gothic Book"/>
              </a:rPr>
              <a:t>Data Input:</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Specify the input features used by the algorithm, such as historical bike rental data, weather conditions, day of the week, and any other relevant factors.</a:t>
            </a:r>
          </a:p>
          <a:p>
            <a:pPr marL="305435" indent="-305435">
              <a:spcBef>
                <a:spcPct val="20000"/>
              </a:spcBef>
              <a:spcAft>
                <a:spcPts val="600"/>
              </a:spcAft>
              <a:buFont typeface="Arial"/>
              <a:buChar char="•"/>
            </a:pPr>
            <a:r>
              <a:rPr lang="en-IN" sz="1500" b="1">
                <a:latin typeface="Franklin Gothic Book"/>
              </a:rPr>
              <a:t>Training Process:</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Explain how the algorithm is trained using historical data. Highlight any specific considerations or techniques employed, such as cross-validation or hyperparameter tuning.</a:t>
            </a:r>
          </a:p>
          <a:p>
            <a:pPr marL="305435" indent="-305435">
              <a:spcBef>
                <a:spcPct val="20000"/>
              </a:spcBef>
              <a:spcAft>
                <a:spcPts val="600"/>
              </a:spcAft>
              <a:buFont typeface="Arial"/>
              <a:buChar char="•"/>
            </a:pPr>
            <a:r>
              <a:rPr lang="en-IN" sz="1500" b="1">
                <a:latin typeface="Franklin Gothic Book"/>
              </a:rPr>
              <a:t>Prediction Process:</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Detail how the trained algorithm makes predictions for future bike counts. Discuss any real-time data inputs considered during the prediction phase.</a:t>
            </a:r>
            <a:endParaRPr lang="en-GB" sz="150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a:bodyPr>
          <a:lstStyle/>
          <a:p>
            <a:pPr marL="0" indent="0">
              <a:buNone/>
            </a:pPr>
            <a:r>
              <a:rPr lang="en-IN" sz="2200">
                <a:latin typeface="Franklin Gothic Book"/>
              </a:rPr>
              <a:t>Present the results of the machine learning model in terms of its accuracy and effectiveness in predicting bike counts. Include visualizations and comparisons between predicted and actual counts to highlight the model's performance.</a:t>
            </a:r>
            <a:endParaRPr lang="en-US" sz="220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IN" sz="2200">
                <a:latin typeface="Franklin Gothic Book"/>
              </a:rPr>
              <a:t>Summarize the findings and discuss the effectiveness of the proposed solution. Highlight any challenges encountered during the implementation and potential improvements. Emphasize the importance of accurate bike count predictions for ensuring a stable supply of rental bikes in urban areas.</a:t>
            </a:r>
            <a:endParaRPr lang="en-US" sz="2200"/>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a:latin typeface="Franklin Gothic Book"/>
            </a:endParaRPr>
          </a:p>
          <a:p>
            <a:pPr marL="0" indent="0">
              <a:spcBef>
                <a:spcPct val="20000"/>
              </a:spcBef>
              <a:spcAft>
                <a:spcPts val="600"/>
              </a:spcAft>
              <a:buNone/>
            </a:pPr>
            <a:r>
              <a:rPr lang="en-US" sz="2200">
                <a:latin typeface="Franklin Gothic Book"/>
              </a:rPr>
              <a:t>Discuss potential enhancements and expansions for the system. This could include incorporating additional data sources, optimizing the algorithm for better performance, and expanding the system to cover multiple cities or regions. Consider the integration of emerging technologies such as edge computing or advanced machine learning techniques.</a:t>
            </a:r>
            <a:endParaRPr lang="en-GB" sz="2200"/>
          </a:p>
          <a:p>
            <a:pPr marL="0" indent="0">
              <a:buNone/>
            </a:pPr>
            <a:endParaRPr lang="en-GB" sz="220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a:latin typeface="Franklin Gothic Book"/>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US" sz="2200">
              <a:latin typeface="Aptos" panose="020B0004020202020204"/>
            </a:endParaRPr>
          </a:p>
          <a:p>
            <a:pPr marL="0" indent="0">
              <a:buNone/>
            </a:pPr>
            <a:r>
              <a:rPr lang="en-IN" sz="2200">
                <a:latin typeface="Franklin Gothic Book"/>
              </a:rPr>
              <a:t>GitHub Link:</a:t>
            </a:r>
            <a:r>
              <a:rPr lang="en-IN" sz="2200">
                <a:solidFill>
                  <a:srgbClr val="0070C0"/>
                </a:solidFill>
                <a:latin typeface="Franklin Gothic Book"/>
              </a:rPr>
              <a:t> </a:t>
            </a:r>
            <a:r>
              <a:rPr lang="en-IN" sz="2200" u="sng">
                <a:solidFill>
                  <a:srgbClr val="0070C0"/>
                </a:solidFill>
                <a:latin typeface="Franklin Gothic Book"/>
              </a:rPr>
              <a:t>Link</a:t>
            </a:r>
          </a:p>
          <a:p>
            <a:pPr marL="0" indent="0">
              <a:buNone/>
            </a:pPr>
            <a:endParaRPr lang="en-IN" sz="2200" u="sng">
              <a:solidFill>
                <a:srgbClr val="0070C0"/>
              </a:solidFill>
              <a:latin typeface="Franklin Gothic Book"/>
            </a:endParaRPr>
          </a:p>
          <a:p>
            <a:pPr marL="0" indent="0">
              <a:buNone/>
            </a:pPr>
            <a:endParaRPr lang="en-IN" sz="220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696</Words>
  <Application>Microsoft Office PowerPoint</Application>
  <PresentationFormat>Widescreen</PresentationFormat>
  <Paragraphs>63</Paragraphs>
  <Slides>11</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Aptos</vt:lpstr>
      <vt:lpstr>Aptos Display</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Vignesh M</cp:lastModifiedBy>
  <cp:revision>100</cp:revision>
  <dcterms:created xsi:type="dcterms:W3CDTF">2024-05-21T11:55:07Z</dcterms:created>
  <dcterms:modified xsi:type="dcterms:W3CDTF">2026-01-12T11:49:19Z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